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8fbf99e-ba3b-47f9-6e80-1a918cd2425e}">
          <p14:sldIdLst>
            <p14:sldId id="256"/>
            <p14:sldId id="257"/>
            <p14:sldId id="258"/>
            <p14:sldId id="259"/>
          </p14:sldIdLst>
        </p14:section>
        <p14:section name="설치" id="{aabb258d-ce9b-1c00-a62d-7ddbe390b979}">
          <p14:sldIdLst>
            <p14:sldId id="260"/>
            <p14:sldId id="261"/>
            <p14:sldId id="262"/>
            <p14:sldId id="263"/>
          </p14:sldIdLst>
        </p14:section>
        <p14:section name="연결 설정" id="{93aecc2c-176e-1ce6-d8b3-18f95ca1b568}">
          <p14:sldIdLst>
            <p14:sldId id="264"/>
            <p14:sldId id="265"/>
            <p14:sldId id="266"/>
            <p14:sldId id="267"/>
          </p14:sldIdLst>
        </p14:section>
        <p14:section name="운영" id="{993cc9e9-154b-4b47-ca66-7aa5e67f47d3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덱은 아무것도 설치되지 않은 새 Windows PC를 기준으로, MATLAB이 WSL 안의 ROS 2 TurtleBot3와 토픽을 주고받는 상태까지 만드는 절차입니다. 모든 단계는 실제로 수행해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 상태의 모습입니다. 아래 숫자는 실제 검증에서 나온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1~4단계는 ROS 2를 쓰는 누구나 하는 일반 설치입니다. 5·6단계는 Windows MATLAB과 WSL을 붙이기 위해 이 프로젝트에서 추가로 필요한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mirrored 모드는 Windows 11 22H2 이상에서만 동작합니다. 시작 전에 winver로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wsl --install 한 줄이면 WSL2와 Ubuntu가 함께 설치됩니다. 재부팅 후 Ubuntu 창이 자동으로 열리며 계정을 만들게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mirrored 모드만 켜면 WSL에서 Windows로 가는 패킷이 전부 버려집니다. hostAddressLoopback이 그 길을 열어 줍니다. 실제 측정값이 0/6에서 6/6으로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ros-humble-desktop에는 RViz 등 도구가 포함됩니다. Gazebo 창은 WSLg 덕분에 별도 설정 없이 Windows 화면에 바로 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쪽에는 ROS 2를 따로 설치하지 않습니다. ROS Toolbox가 내장한 것을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폴더 위치를 바꿔도 되지만, 그 경우 MATLAB에서 ros2_matlab_setup을 직접 호출해야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전체 가이드의 핵심 개념입니다. 설정 파일 하나가 두 가지를 바꿉니다. 공유메모리 차단과 유니캐스트 탐색입니다.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실패 원인이 이 순서입니다. 토픽이 안 보이면 열에 아홉은 MATLAB을 재시작하지 않은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줄이 모두 OK로 나오면 세팅이 끝난 것입니다. 이후 tb3_basics부터 튜토리얼을 진행하면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일상적인 사용 흐름입니다. 세팅은 한 번뿐이고 이후는 단순합니다.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위에서부터 순서대로 확인하면 대부분 해결됩니다. 가장 흔한 것은 첫 번째, MATLAB 재시작입니다.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목록 조회가 안 되는 것은 불편하지만 통신 자체에는 지장이 없습니다. 실제 메시지로 확인하는 습관을 들이면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가지가 모두 확인되면 세팅이 끝난 것입니다. 원인 분석과 상세 근거는 PDF 보고서에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2240280"/>
            <a:ext cx="9198864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703320"/>
            <a:ext cx="8650224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BFD9D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BFD9D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640080"/>
            <a:ext cx="1102766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66928" y="63642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MATLAB ↔ WSL ROS 2 · TurtleBot3 세팅 가이드 · 2026-10-29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66928" y="63642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MATLAB ↔ WSL ROS 2 · TurtleBot3 세팅 가이드 · 2026-10-29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2240280"/>
            <a:ext cx="9198864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새 PC 세팅 가이드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3703320"/>
            <a:ext cx="8650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9DE"/>
                </a:solidFill>
              </a:rPr>
              <a:t>Windows의 MATLAB에서 WSL의 ROS 2 TurtleBot3를 토픽으로 제어하기까지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B8BF"/>
                </a:solidFill>
              </a:rPr>
              <a:t>2026-10-29 · 검증 완료된 절차 · 소요 시간 약 60~90분</a:t>
            </a:r>
            <a:endParaRPr lang="en-US" sz="1600" dirty="0"/>
          </a:p>
        </p:txBody>
      </p:sp>
      <p:sp>
        <p:nvSpPr>
          <p:cNvPr id="4" name="cover-matlab"/>
          <p:cNvSpPr/>
          <p:nvPr/>
        </p:nvSpPr>
        <p:spPr>
          <a:xfrm>
            <a:off x="8275320" y="2148840"/>
            <a:ext cx="1783080" cy="713232"/>
          </a:xfrm>
          <a:prstGeom prst="roundRect">
            <a:avLst>
              <a:gd name="adj" fmla="val 12821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75320" y="21488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MATLAB</a:t>
            </a:r>
            <a:endParaRPr lang="en-US" sz="1400" dirty="0"/>
          </a:p>
        </p:txBody>
      </p:sp>
      <p:sp>
        <p:nvSpPr>
          <p:cNvPr id="6" name="cover-ros"/>
          <p:cNvSpPr/>
          <p:nvPr/>
        </p:nvSpPr>
        <p:spPr>
          <a:xfrm>
            <a:off x="8275320" y="3886200"/>
            <a:ext cx="1783080" cy="713232"/>
          </a:xfrm>
          <a:prstGeom prst="roundRect">
            <a:avLst>
              <a:gd name="adj" fmla="val 12821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5320" y="388620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WSL ROS 2</a:t>
            </a:r>
            <a:endParaRPr lang="en-US" sz="1400" dirty="0"/>
          </a:p>
        </p:txBody>
      </p:sp>
      <p:sp>
        <p:nvSpPr>
          <p:cNvPr id="8" name="cover-arr-down"/>
          <p:cNvSpPr/>
          <p:nvPr/>
        </p:nvSpPr>
        <p:spPr>
          <a:xfrm>
            <a:off x="8686800" y="2862072"/>
            <a:ext cx="0" cy="1024128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cover-arr-up"/>
          <p:cNvSpPr/>
          <p:nvPr/>
        </p:nvSpPr>
        <p:spPr>
          <a:xfrm flipV="1">
            <a:off x="9646920" y="2862072"/>
            <a:ext cx="0" cy="1024128"/>
          </a:xfrm>
          <a:prstGeom prst="line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22376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756648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 /odom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 끝나면 이렇게 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Windows의 MATLAB이 WSL 안에서 돌아가는 Gazebo 로봇의 센서를 읽고, 속도 명령을 보내 실제로 움직인다.</a:t>
            </a:r>
            <a:endParaRPr lang="en-US" sz="1400" dirty="0"/>
          </a:p>
        </p:txBody>
      </p:sp>
      <p:sp>
        <p:nvSpPr>
          <p:cNvPr id="4" name="win-card"/>
          <p:cNvSpPr/>
          <p:nvPr/>
        </p:nvSpPr>
        <p:spPr>
          <a:xfrm>
            <a:off x="566928" y="1920240"/>
            <a:ext cx="397764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1579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Windows 11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420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MATLAB R2025b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632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ROS Toolbox · 내장 ROS 2 Jazzy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라이다 처리 · SLAM · 경로 계획</a:t>
            </a:r>
            <a:endParaRPr lang="en-US" sz="1300" dirty="0"/>
          </a:p>
        </p:txBody>
      </p:sp>
      <p:sp>
        <p:nvSpPr>
          <p:cNvPr id="8" name="wsl-card"/>
          <p:cNvSpPr/>
          <p:nvPr/>
        </p:nvSpPr>
        <p:spPr>
          <a:xfrm>
            <a:off x="7616952" y="1920240"/>
            <a:ext cx="397764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91272" y="21579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WSL2 · Ubuntu 22.04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5420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ROS 2 Humble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30632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Gazebo · TurtleBot3 시뮬레이션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로봇 · 라이다 · 주행</a:t>
            </a:r>
            <a:endParaRPr lang="en-US" sz="1300" dirty="0"/>
          </a:p>
        </p:txBody>
      </p:sp>
      <p:sp>
        <p:nvSpPr>
          <p:cNvPr id="12" name="arr-rx"/>
          <p:cNvSpPr/>
          <p:nvPr/>
        </p:nvSpPr>
        <p:spPr>
          <a:xfrm>
            <a:off x="4773168" y="2788920"/>
            <a:ext cx="261518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498848" y="2395728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   /odom</a:t>
            </a:r>
            <a:endParaRPr lang="en-US" sz="1200" dirty="0"/>
          </a:p>
        </p:txBody>
      </p:sp>
      <p:sp>
        <p:nvSpPr>
          <p:cNvPr id="14" name="arr-tx"/>
          <p:cNvSpPr/>
          <p:nvPr/>
        </p:nvSpPr>
        <p:spPr>
          <a:xfrm flipH="1">
            <a:off x="4773168" y="3401568"/>
            <a:ext cx="261518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498848" y="351129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</a:t>
            </a:r>
            <a:endParaRPr lang="en-US" sz="1200" dirty="0"/>
          </a:p>
        </p:txBody>
      </p:sp>
      <p:sp>
        <p:nvSpPr>
          <p:cNvPr id="16" name="stat-0"/>
          <p:cNvSpPr/>
          <p:nvPr/>
        </p:nvSpPr>
        <p:spPr>
          <a:xfrm>
            <a:off x="566928" y="4617720"/>
            <a:ext cx="340156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80060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360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376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개 라이다 거리값 수신</a:t>
            </a:r>
            <a:endParaRPr lang="en-US" sz="1200" dirty="0"/>
          </a:p>
        </p:txBody>
      </p:sp>
      <p:sp>
        <p:nvSpPr>
          <p:cNvPr id="19" name="stat-1"/>
          <p:cNvSpPr/>
          <p:nvPr/>
        </p:nvSpPr>
        <p:spPr>
          <a:xfrm>
            <a:off x="4242816" y="4617720"/>
            <a:ext cx="340156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1416" y="480060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0.184 m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471416" y="5376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MATLAB 명령으로 실제 주행</a:t>
            </a:r>
            <a:endParaRPr lang="en-US" sz="1200" dirty="0"/>
          </a:p>
        </p:txBody>
      </p:sp>
      <p:sp>
        <p:nvSpPr>
          <p:cNvPr id="22" name="stat-2"/>
          <p:cNvSpPr/>
          <p:nvPr/>
        </p:nvSpPr>
        <p:spPr>
          <a:xfrm>
            <a:off x="7918704" y="4617720"/>
            <a:ext cx="3401568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480060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양방향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8147304" y="5376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토픽 통신 검증 완료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전체 흐름 — 여섯 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앞의 네 단계는 일반적인 설치다. 5·6단계가 이 조합에만 필요한 부분이다.</a:t>
            </a:r>
            <a:endParaRPr lang="en-US" sz="1400" dirty="0"/>
          </a:p>
        </p:txBody>
      </p:sp>
      <p:sp>
        <p:nvSpPr>
          <p:cNvPr id="4" name="flow-0"/>
          <p:cNvSpPr/>
          <p:nvPr/>
        </p:nvSpPr>
        <p:spPr>
          <a:xfrm>
            <a:off x="566928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flow-badge-0"/>
          <p:cNvSpPr/>
          <p:nvPr/>
        </p:nvSpPr>
        <p:spPr>
          <a:xfrm>
            <a:off x="1127760" y="2404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Text 4"/>
          <p:cNvSpPr/>
          <p:nvPr/>
        </p:nvSpPr>
        <p:spPr>
          <a:xfrm>
            <a:off x="11277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WSL2 설치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Ubuntu 22.04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6"/>
                </a:solidFill>
              </a:rPr>
              <a:t>약 15분</a:t>
            </a:r>
            <a:endParaRPr lang="en-US" sz="1100" dirty="0"/>
          </a:p>
        </p:txBody>
      </p:sp>
      <p:sp>
        <p:nvSpPr>
          <p:cNvPr id="10" name="flow-arr-0"/>
          <p:cNvSpPr/>
          <p:nvPr/>
        </p:nvSpPr>
        <p:spPr>
          <a:xfrm>
            <a:off x="2255520" y="2679192"/>
            <a:ext cx="164592" cy="0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11" name="flow-1"/>
          <p:cNvSpPr/>
          <p:nvPr/>
        </p:nvSpPr>
        <p:spPr>
          <a:xfrm>
            <a:off x="2438400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2" name="flow-badge-1"/>
          <p:cNvSpPr/>
          <p:nvPr/>
        </p:nvSpPr>
        <p:spPr>
          <a:xfrm>
            <a:off x="2999232" y="2404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566416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네트워크 설정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66416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.wslconfig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66416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6"/>
                </a:solidFill>
              </a:rPr>
              <a:t>약 5분</a:t>
            </a:r>
            <a:endParaRPr lang="en-US" sz="1100" dirty="0"/>
          </a:p>
        </p:txBody>
      </p:sp>
      <p:sp>
        <p:nvSpPr>
          <p:cNvPr id="17" name="flow-arr-1"/>
          <p:cNvSpPr/>
          <p:nvPr/>
        </p:nvSpPr>
        <p:spPr>
          <a:xfrm>
            <a:off x="4126992" y="2679192"/>
            <a:ext cx="164592" cy="0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18" name="flow-2"/>
          <p:cNvSpPr/>
          <p:nvPr/>
        </p:nvSpPr>
        <p:spPr>
          <a:xfrm>
            <a:off x="4309872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flow-badge-2"/>
          <p:cNvSpPr/>
          <p:nvPr/>
        </p:nvSpPr>
        <p:spPr>
          <a:xfrm>
            <a:off x="4870704" y="2404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/>
          <p:nvPr/>
        </p:nvSpPr>
        <p:spPr>
          <a:xfrm>
            <a:off x="4870704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437888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ROS 2 설치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37888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Humble + TB3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437888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6"/>
                </a:solidFill>
              </a:rPr>
              <a:t>약 30분</a:t>
            </a:r>
            <a:endParaRPr lang="en-US" sz="1100" dirty="0"/>
          </a:p>
        </p:txBody>
      </p:sp>
      <p:sp>
        <p:nvSpPr>
          <p:cNvPr id="24" name="flow-arr-2"/>
          <p:cNvSpPr/>
          <p:nvPr/>
        </p:nvSpPr>
        <p:spPr>
          <a:xfrm>
            <a:off x="5998464" y="2679192"/>
            <a:ext cx="164592" cy="0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25" name="flow-3"/>
          <p:cNvSpPr/>
          <p:nvPr/>
        </p:nvSpPr>
        <p:spPr>
          <a:xfrm>
            <a:off x="6181344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flow-badge-3"/>
          <p:cNvSpPr/>
          <p:nvPr/>
        </p:nvSpPr>
        <p:spPr>
          <a:xfrm>
            <a:off x="6742176" y="2404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7" name="Text 25"/>
          <p:cNvSpPr/>
          <p:nvPr/>
        </p:nvSpPr>
        <p:spPr>
          <a:xfrm>
            <a:off x="6742176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MATLAB 확인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ROS Toolbox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6"/>
                </a:solidFill>
              </a:rPr>
              <a:t>약 5분</a:t>
            </a:r>
            <a:endParaRPr lang="en-US" sz="1100" dirty="0"/>
          </a:p>
        </p:txBody>
      </p:sp>
      <p:sp>
        <p:nvSpPr>
          <p:cNvPr id="31" name="flow-arr-3"/>
          <p:cNvSpPr/>
          <p:nvPr/>
        </p:nvSpPr>
        <p:spPr>
          <a:xfrm>
            <a:off x="7869936" y="2679192"/>
            <a:ext cx="164592" cy="0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32" name="flow-4"/>
          <p:cNvSpPr/>
          <p:nvPr/>
        </p:nvSpPr>
        <p:spPr>
          <a:xfrm>
            <a:off x="8052816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flow-badge-4"/>
          <p:cNvSpPr/>
          <p:nvPr/>
        </p:nvSpPr>
        <p:spPr>
          <a:xfrm>
            <a:off x="8613648" y="24048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/>
          <p:nvPr/>
        </p:nvSpPr>
        <p:spPr>
          <a:xfrm>
            <a:off x="8613648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5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180832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프로젝트 배치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180832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설정 파일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180832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약 2분</a:t>
            </a:r>
            <a:endParaRPr lang="en-US" sz="1100" dirty="0"/>
          </a:p>
        </p:txBody>
      </p:sp>
      <p:sp>
        <p:nvSpPr>
          <p:cNvPr id="38" name="flow-arr-4"/>
          <p:cNvSpPr/>
          <p:nvPr/>
        </p:nvSpPr>
        <p:spPr>
          <a:xfrm>
            <a:off x="9741408" y="2679192"/>
            <a:ext cx="164592" cy="0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39" name="flow-5"/>
          <p:cNvSpPr/>
          <p:nvPr/>
        </p:nvSpPr>
        <p:spPr>
          <a:xfrm>
            <a:off x="9924288" y="2148840"/>
            <a:ext cx="1670304" cy="2286000"/>
          </a:xfrm>
          <a:prstGeom prst="roundRect">
            <a:avLst>
              <a:gd name="adj" fmla="val 547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0" name="flow-badge-5"/>
          <p:cNvSpPr/>
          <p:nvPr/>
        </p:nvSpPr>
        <p:spPr>
          <a:xfrm>
            <a:off x="10485120" y="24048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/>
          <p:nvPr/>
        </p:nvSpPr>
        <p:spPr>
          <a:xfrm>
            <a:off x="104851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6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10052304" y="3118104"/>
            <a:ext cx="1414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설정 · 검증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052304" y="3520440"/>
            <a:ext cx="1414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연결 확인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0052304" y="3977640"/>
            <a:ext cx="1414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약 5분</a:t>
            </a:r>
            <a:endParaRPr lang="en-US" sz="1100" dirty="0"/>
          </a:p>
        </p:txBody>
      </p:sp>
      <p:sp>
        <p:nvSpPr>
          <p:cNvPr id="45" name="flow-note"/>
          <p:cNvSpPr/>
          <p:nvPr/>
        </p:nvSpPr>
        <p:spPr>
          <a:xfrm>
            <a:off x="566928" y="4800600"/>
            <a:ext cx="1102766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1248" y="5010912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</a:rPr>
              <a:t>5 · 6단계가 핵심이다.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WSL2를 mirrored 모드로 쓰면 MATLAB과 WSL이 서로를 같은 컴퓨터로 착각해 통신이 끊긴다. 이것을 푸는 설정 파일과 적용 절차가 5·6단계다. 자세한 이유는 10번 슬라이드에 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시작 전 확인할 것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276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0"/>
                <a:gridCol w="371246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조건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11 22H2 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mirrored 네트워크 모드에 필요하다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winver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 2.0.0 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wsl --version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Ubuntu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22.04 LTS — ROS 2 Humble이 쓰는 버전이다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lsb_release -a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MATLAB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R2025b + ROS Toolbox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 명령으로 목록 확인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15 GB 여유 (WSL + ROS 2 + Gazebo)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warn-card"/>
          <p:cNvSpPr/>
          <p:nvPr/>
        </p:nvSpPr>
        <p:spPr>
          <a:xfrm>
            <a:off x="566928" y="4846320"/>
            <a:ext cx="11027664" cy="1097280"/>
          </a:xfrm>
          <a:prstGeom prst="roundRect">
            <a:avLst>
              <a:gd name="adj" fmla="val 8333"/>
            </a:avLst>
          </a:prstGeom>
          <a:solidFill>
            <a:srgbClr val="FBF2E3"/>
          </a:solidFill>
          <a:ln w="15875">
            <a:solidFill>
              <a:srgbClr val="E6CC96"/>
            </a:solidFill>
            <a:prstDash val="solid"/>
          </a:ln>
        </p:spPr>
      </p:sp>
      <p:sp>
        <p:nvSpPr>
          <p:cNvPr id="5" name="warn-dot"/>
          <p:cNvSpPr/>
          <p:nvPr/>
        </p:nvSpPr>
        <p:spPr>
          <a:xfrm>
            <a:off x="841248" y="513892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047488"/>
            <a:ext cx="9747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Windows 10에서는 이 가이드를 그대로 쓸 수 없다.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mirrored 네트워크 모드가 Windows 11 전용이기 때문이다. Windows 10이라면 WSL을 기본 NAT 모드로 두고 방화벽에서 UDP를 열어 주는 다른 방식을 써야 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WSL2와 Ubuntu 22.04 설치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관리자 권한 PowerShell에서 실행한다. 설치 후 재부팅이 필요하다.</a:t>
            </a:r>
            <a:endParaRPr lang="en-US" sz="1400" dirty="0"/>
          </a:p>
        </p:txBody>
      </p:sp>
      <p:sp>
        <p:nvSpPr>
          <p:cNvPr id="6" name="code-s1"/>
          <p:cNvSpPr/>
          <p:nvPr/>
        </p:nvSpPr>
        <p:spPr>
          <a:xfrm>
            <a:off x="566928" y="1664208"/>
            <a:ext cx="6309360" cy="2057400"/>
          </a:xfrm>
          <a:prstGeom prst="roundRect">
            <a:avLst>
              <a:gd name="adj" fmla="val 2667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55648"/>
            <a:ext cx="59801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 -d Ubuntu-22.04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재부팅 후, 사용자 이름과 비밀번호를 만든다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그 다음 WSL이 최신인지 확인한다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--update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--version</a:t>
            </a:r>
            <a:endParaRPr lang="en-US" sz="1200" dirty="0"/>
          </a:p>
        </p:txBody>
      </p:sp>
      <p:sp>
        <p:nvSpPr>
          <p:cNvPr id="8" name="s1-check"/>
          <p:cNvSpPr/>
          <p:nvPr/>
        </p:nvSpPr>
        <p:spPr>
          <a:xfrm>
            <a:off x="566928" y="3931920"/>
            <a:ext cx="63093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413308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확인 포인트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526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· wsl --version 에서 WSL 버전이 2.0.0 이상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· 배포판이 Ubuntu-22.04 (20.04나 24.04가 아니다)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· wsl -l -v 결과의 VERSION 열이 2</a:t>
            </a:r>
            <a:endParaRPr lang="en-US" sz="1300" dirty="0"/>
          </a:p>
        </p:txBody>
      </p:sp>
      <p:sp>
        <p:nvSpPr>
          <p:cNvPr id="11" name="s1-why"/>
          <p:cNvSpPr/>
          <p:nvPr/>
        </p:nvSpPr>
        <p:spPr>
          <a:xfrm>
            <a:off x="7196328" y="1664208"/>
            <a:ext cx="4398264" cy="4187952"/>
          </a:xfrm>
          <a:prstGeom prst="roundRect">
            <a:avLst>
              <a:gd name="adj" fmla="val 2183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70648" y="19019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왜 22.04인가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70648" y="23042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ROS 2 배포판은 Ubuntu 버전과 짝이 정해져 있다. 이 프로젝트가 쓰는 Humble은 22.04 전용이다.</a:t>
            </a:r>
            <a:endParaRPr lang="en-US" sz="1300" dirty="0"/>
          </a:p>
        </p:txBody>
      </p:sp>
      <p:sp>
        <p:nvSpPr>
          <p:cNvPr id="14" name="pair-0"/>
          <p:cNvSpPr/>
          <p:nvPr/>
        </p:nvSpPr>
        <p:spPr>
          <a:xfrm>
            <a:off x="7470648" y="324612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Ubuntu 22.04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299448" y="3429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</a:rPr>
              <a:t>→  ROS 2 Humble</a:t>
            </a:r>
            <a:endParaRPr lang="en-US" sz="1250" dirty="0"/>
          </a:p>
        </p:txBody>
      </p:sp>
      <p:sp>
        <p:nvSpPr>
          <p:cNvPr id="17" name="pair-1"/>
          <p:cNvSpPr/>
          <p:nvPr/>
        </p:nvSpPr>
        <p:spPr>
          <a:xfrm>
            <a:off x="7470648" y="411480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Ubuntu 24.04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4297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→  ROS 2 Jazzy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70648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이 가이드는 Humble 기준이다.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네트워크 모드 설정 (.wslconfig)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Windows 사용자 폴더에 .wslconfig 파일을 만든다. 이 설정이 있어야 WSL에서 Windows로 가는 길이 열린다.</a:t>
            </a:r>
            <a:endParaRPr lang="en-US" sz="1400" dirty="0"/>
          </a:p>
        </p:txBody>
      </p:sp>
      <p:sp>
        <p:nvSpPr>
          <p:cNvPr id="6" name="code-s2"/>
          <p:cNvSpPr/>
          <p:nvPr/>
        </p:nvSpPr>
        <p:spPr>
          <a:xfrm>
            <a:off x="566928" y="1664208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55648"/>
            <a:ext cx="55229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위치:  C:\Users\&lt;사용자이름&gt;\.wslconfig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[wsl2]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networkingMode=mirrored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[experimental]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hostAddressLoopback=true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저장한 뒤 반드시 WSL을 완전히 껐다 켠다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--shutdown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846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두 줄 모두 필요하다. 하나만 넣으면 동작하지 않는다.</a:t>
            </a:r>
            <a:endParaRPr lang="en-US" sz="1250" dirty="0"/>
          </a:p>
        </p:txBody>
      </p:sp>
      <p:sp>
        <p:nvSpPr>
          <p:cNvPr id="9" name="s2-why"/>
          <p:cNvSpPr/>
          <p:nvPr/>
        </p:nvSpPr>
        <p:spPr>
          <a:xfrm>
            <a:off x="6830568" y="1664208"/>
            <a:ext cx="4764024" cy="4187952"/>
          </a:xfrm>
          <a:prstGeom prst="roundRect">
            <a:avLst>
              <a:gd name="adj" fmla="val 2183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04888" y="188366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hostAddressLoopback이 하는 일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14616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설정 전</a:t>
            </a:r>
            <a:endParaRPr lang="en-US" sz="1200" dirty="0"/>
          </a:p>
        </p:txBody>
      </p:sp>
      <p:sp>
        <p:nvSpPr>
          <p:cNvPr id="12" name="s2-wsl-false"/>
          <p:cNvSpPr/>
          <p:nvPr/>
        </p:nvSpPr>
        <p:spPr>
          <a:xfrm>
            <a:off x="7214616" y="2697480"/>
            <a:ext cx="1600200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5875">
            <a:solidFill>
              <a:srgbClr val="C6D9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14616" y="28254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WSL</a:t>
            </a:r>
            <a:endParaRPr lang="en-US" sz="1200" dirty="0"/>
          </a:p>
        </p:txBody>
      </p:sp>
      <p:sp>
        <p:nvSpPr>
          <p:cNvPr id="14" name="s2-win-false"/>
          <p:cNvSpPr/>
          <p:nvPr/>
        </p:nvSpPr>
        <p:spPr>
          <a:xfrm>
            <a:off x="9610344" y="2697480"/>
            <a:ext cx="1600200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5875">
            <a:solidFill>
              <a:srgbClr val="C6D9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10344" y="28254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Windows</a:t>
            </a:r>
            <a:endParaRPr lang="en-US" sz="1200" dirty="0"/>
          </a:p>
        </p:txBody>
      </p:sp>
      <p:sp>
        <p:nvSpPr>
          <p:cNvPr id="16" name="s2-arr-false"/>
          <p:cNvSpPr/>
          <p:nvPr/>
        </p:nvSpPr>
        <p:spPr>
          <a:xfrm>
            <a:off x="8906256" y="2980944"/>
            <a:ext cx="61264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7" name="s2-block"/>
          <p:cNvSpPr/>
          <p:nvPr/>
        </p:nvSpPr>
        <p:spPr>
          <a:xfrm>
            <a:off x="9057132" y="2825496"/>
            <a:ext cx="310896" cy="310896"/>
          </a:xfrm>
          <a:prstGeom prst="ellipse">
            <a:avLst/>
          </a:prstGeom>
          <a:solidFill>
            <a:srgbClr val="C1462F"/>
          </a:solidFill>
          <a:ln/>
        </p:spPr>
      </p:sp>
      <p:sp>
        <p:nvSpPr>
          <p:cNvPr id="18" name="Text 16"/>
          <p:cNvSpPr/>
          <p:nvPr/>
        </p:nvSpPr>
        <p:spPr>
          <a:xfrm>
            <a:off x="9057132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14616" y="33558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패킷 0 / 6 — 전부 버려짐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214616" y="4142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설정 후</a:t>
            </a:r>
            <a:endParaRPr lang="en-US" sz="1200" dirty="0"/>
          </a:p>
        </p:txBody>
      </p:sp>
      <p:sp>
        <p:nvSpPr>
          <p:cNvPr id="21" name="s2-wsl-true"/>
          <p:cNvSpPr/>
          <p:nvPr/>
        </p:nvSpPr>
        <p:spPr>
          <a:xfrm>
            <a:off x="7214616" y="4434840"/>
            <a:ext cx="1600200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5875">
            <a:solidFill>
              <a:srgbClr val="C6D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4616" y="45628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WSL</a:t>
            </a:r>
            <a:endParaRPr lang="en-US" sz="1200" dirty="0"/>
          </a:p>
        </p:txBody>
      </p:sp>
      <p:sp>
        <p:nvSpPr>
          <p:cNvPr id="23" name="s2-win-true"/>
          <p:cNvSpPr/>
          <p:nvPr/>
        </p:nvSpPr>
        <p:spPr>
          <a:xfrm>
            <a:off x="9610344" y="4434840"/>
            <a:ext cx="1600200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5875">
            <a:solidFill>
              <a:srgbClr val="C6D9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10344" y="45628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Windows</a:t>
            </a:r>
            <a:endParaRPr lang="en-US" sz="1200" dirty="0"/>
          </a:p>
        </p:txBody>
      </p:sp>
      <p:sp>
        <p:nvSpPr>
          <p:cNvPr id="25" name="s2-arr-true"/>
          <p:cNvSpPr/>
          <p:nvPr/>
        </p:nvSpPr>
        <p:spPr>
          <a:xfrm>
            <a:off x="8906256" y="4718304"/>
            <a:ext cx="61264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214616" y="509320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1"/>
                </a:solidFill>
              </a:rPr>
              <a:t>패킷 6 / 6 도달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ROS 2 Humble과 TurtleBot3 설치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Ubuntu 터미널에서 실행한다. 다운로드 양이 많아 30분쯤 걸린다.</a:t>
            </a:r>
            <a:endParaRPr lang="en-US" sz="1400" dirty="0"/>
          </a:p>
        </p:txBody>
      </p:sp>
      <p:sp>
        <p:nvSpPr>
          <p:cNvPr id="6" name="code-s3"/>
          <p:cNvSpPr/>
          <p:nvPr/>
        </p:nvSpPr>
        <p:spPr>
          <a:xfrm>
            <a:off x="566928" y="1664208"/>
            <a:ext cx="7086600" cy="3200400"/>
          </a:xfrm>
          <a:prstGeom prst="roundRect">
            <a:avLst>
              <a:gd name="adj" fmla="val 1714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55648"/>
            <a:ext cx="6757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ROS 2 저장소 등록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software-properties-common curl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add-apt-repository -y universe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curl -sSL https://raw.githubusercontent.com/ros/rosdistro/master/ros.key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-o /usr/share/keyrings/ros-archive-keyring.gpg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 [signed-by=/usr/share/keyrings/ros-archive-keyring.gpg]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http://packages.ros.org/ros2/ubuntu $(. /etc/os-release &amp;&amp; echo $UBUNTU_CODENAME) main"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sudo tee /etc/apt/sources.list.d/ros2.list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ROS 2와 시뮬레이션 패키지 설치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ros-humble-desktop ros-humble-gazebo-ros-pkgs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ros-humble-turtlebot3 ros-humble-turtlebot3-simulations</a:t>
            </a:r>
            <a:endParaRPr lang="en-US" sz="1050" dirty="0"/>
          </a:p>
        </p:txBody>
      </p:sp>
      <p:sp>
        <p:nvSpPr>
          <p:cNvPr id="8" name="code-s3b"/>
          <p:cNvSpPr/>
          <p:nvPr/>
        </p:nvSpPr>
        <p:spPr>
          <a:xfrm>
            <a:off x="566928" y="4983480"/>
            <a:ext cx="7086600" cy="914400"/>
          </a:xfrm>
          <a:prstGeom prst="roundRect">
            <a:avLst>
              <a:gd name="adj" fmla="val 6000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074920"/>
            <a:ext cx="6757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~/.bashrc 맨 아래에 추가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/opt/ros/humble/setup.bash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ROS_DOMAIN_ID=30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TURTLEBOT3_MODEL=burger</a:t>
            </a:r>
            <a:endParaRPr lang="en-US" sz="1050" dirty="0"/>
          </a:p>
        </p:txBody>
      </p:sp>
      <p:sp>
        <p:nvSpPr>
          <p:cNvPr id="10" name="s3-note"/>
          <p:cNvSpPr/>
          <p:nvPr/>
        </p:nvSpPr>
        <p:spPr>
          <a:xfrm>
            <a:off x="7973568" y="1664208"/>
            <a:ext cx="3621024" cy="4233672"/>
          </a:xfrm>
          <a:prstGeom prst="roundRect">
            <a:avLst>
              <a:gd name="adj" fmla="val 2525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88366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ROS_DOMAIN_ID = 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8600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같은 번호를 쓰는 노드끼리만 서로를 본다. MATLAB 쪽도 30으로 맞춘다. 숫자 자체는 아무 값이나 괜찮지만 양쪽이 같아야 한다.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42900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설치 확인</a:t>
            </a:r>
            <a:endParaRPr lang="en-US" sz="1500" dirty="0"/>
          </a:p>
        </p:txBody>
      </p:sp>
      <p:sp>
        <p:nvSpPr>
          <p:cNvPr id="14" name="code-s3c"/>
          <p:cNvSpPr/>
          <p:nvPr/>
        </p:nvSpPr>
        <p:spPr>
          <a:xfrm>
            <a:off x="8247888" y="3822192"/>
            <a:ext cx="3072384" cy="914400"/>
          </a:xfrm>
          <a:prstGeom prst="roundRect">
            <a:avLst>
              <a:gd name="adj" fmla="val 6000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39136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\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turtlebot3_gazebo \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turtlebot3_world.launch.py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486460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Gazebo 창이 뜨고 로봇이 보이면 설치가 끝난 것이다.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MATLAB과 ROS Toolbox 확인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이 프로젝트는 MATLAB R2025b를 기준으로 검증했다. ROS Toolbox가 설치되어 있어야 한다.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749040"/>
                <a:gridCol w="462686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또는 방법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MATLAB 버전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25.2 (R2025b)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ROS Toolbox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ROS Toolbox가 보인다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Navigation Toolbox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SLAM 예제(tb3_slam_plan)에만 필요하다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ROS 2 동작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ros2node("/t", 30)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없이 객체가 만들어진다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4-note"/>
          <p:cNvSpPr/>
          <p:nvPr/>
        </p:nvSpPr>
        <p:spPr>
          <a:xfrm>
            <a:off x="566928" y="4572000"/>
            <a:ext cx="11027664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4773168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알아둘 점 — MATLAB에는 ROS 2가 이미 들어 있다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5138928"/>
            <a:ext cx="10479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ROS Toolbox는 자체 ROS 2를 내장하고 있어 Windows에 따로 설치할 필요가 없다. 다만 그 버전이 Jazzy 계열이라 WSL의 Humble과 배포판이 다르다. 토픽 송수신은 되지만 목록 조회는 되지 않는다. 15번 슬라이드에서 다시 다룬다.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5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프로젝트 파일 배치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프로젝트 폴더를 </a:t>
            </a:r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C:\workspace\aypi-turtlebot-tutorial</a:t>
            </a:r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에 둔다. 색이 들어간 것이 직접 쓰게 되는 파일이다.</a:t>
            </a:r>
            <a:endParaRPr lang="en-US" sz="1400" dirty="0"/>
          </a:p>
        </p:txBody>
      </p:sp>
      <p:sp>
        <p:nvSpPr>
          <p:cNvPr id="6" name="file-0"/>
          <p:cNvSpPr/>
          <p:nvPr/>
        </p:nvSpPr>
        <p:spPr>
          <a:xfrm>
            <a:off x="566928" y="1682496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739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startup.m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956048" y="1773936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이 폴더에서 MATLAB을 켜면 자동 실행되어 설정을 걸어 준다</a:t>
            </a:r>
            <a:endParaRPr lang="en-US" sz="1250" dirty="0"/>
          </a:p>
        </p:txBody>
      </p:sp>
      <p:sp>
        <p:nvSpPr>
          <p:cNvPr id="9" name="file-1"/>
          <p:cNvSpPr/>
          <p:nvPr/>
        </p:nvSpPr>
        <p:spPr>
          <a:xfrm>
            <a:off x="566928" y="2286000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3774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ros2_matlab_setup.m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377440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환경변수를 설정한다. ROS 2를 쓰기 전에 호출해야 한다</a:t>
            </a:r>
            <a:endParaRPr lang="en-US" sz="1250" dirty="0"/>
          </a:p>
        </p:txBody>
      </p:sp>
      <p:sp>
        <p:nvSpPr>
          <p:cNvPr id="12" name="file-2"/>
          <p:cNvSpPr/>
          <p:nvPr/>
        </p:nvSpPr>
        <p:spPr>
          <a:xfrm>
            <a:off x="566928" y="2889504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9809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fastdds_matlab_wsl.xml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980944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통신 설정 본체. 자동 생성물이므로 직접 고치지 않는다</a:t>
            </a:r>
            <a:endParaRPr lang="en-US" sz="1250" dirty="0"/>
          </a:p>
        </p:txBody>
      </p:sp>
      <p:sp>
        <p:nvSpPr>
          <p:cNvPr id="15" name="file-3"/>
          <p:cNvSpPr/>
          <p:nvPr/>
        </p:nvSpPr>
        <p:spPr>
          <a:xfrm>
            <a:off x="566928" y="3493008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844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make_fastdds_profile.m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956048" y="3584448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위 XML 생성기. 도메인을 바꾸면 포트를 다시 계산해 만든다</a:t>
            </a:r>
            <a:endParaRPr lang="en-US" sz="1250" dirty="0"/>
          </a:p>
        </p:txBody>
      </p:sp>
      <p:sp>
        <p:nvSpPr>
          <p:cNvPr id="18" name="file-4"/>
          <p:cNvSpPr/>
          <p:nvPr/>
        </p:nvSpPr>
        <p:spPr>
          <a:xfrm>
            <a:off x="566928" y="4096512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879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tb3_check_connection.m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4187952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통신이 되는지 실제 메시지로 확인한다</a:t>
            </a:r>
            <a:endParaRPr lang="en-US" sz="1250" dirty="0"/>
          </a:p>
        </p:txBody>
      </p:sp>
      <p:sp>
        <p:nvSpPr>
          <p:cNvPr id="21" name="file-5"/>
          <p:cNvSpPr/>
          <p:nvPr/>
        </p:nvSpPr>
        <p:spPr>
          <a:xfrm>
            <a:off x="566928" y="4700016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914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tb3_basics.m · tb3_avoid.m · tb3_slam_plan.m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956048" y="4791456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튜토리얼 본편</a:t>
            </a:r>
            <a:endParaRPr lang="en-US" sz="1250" dirty="0"/>
          </a:p>
        </p:txBody>
      </p:sp>
      <p:sp>
        <p:nvSpPr>
          <p:cNvPr id="24" name="file-6"/>
          <p:cNvSpPr/>
          <p:nvPr/>
        </p:nvSpPr>
        <p:spPr>
          <a:xfrm>
            <a:off x="566928" y="5303520"/>
            <a:ext cx="11027664" cy="512064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949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tb3_followPath.m · tb3_stopRobot.m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5394960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경로 추종과 정지. Ctrl+C 로 끊어도 로봇이 선다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추가 설정이 필요한가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mirrored 모드는 WSL에 Windows 랜카드의 IP와 MAC을 그대로 복사한다. 그래서 생기는 문제다.</a:t>
            </a:r>
            <a:endParaRPr lang="en-US" sz="1400" dirty="0"/>
          </a:p>
        </p:txBody>
      </p:sp>
      <p:sp>
        <p:nvSpPr>
          <p:cNvPr id="4" name="prob-card"/>
          <p:cNvSpPr/>
          <p:nvPr/>
        </p:nvSpPr>
        <p:spPr>
          <a:xfrm>
            <a:off x="566928" y="1664208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BF0EE"/>
          </a:solidFill>
          <a:ln w="15875">
            <a:solidFill>
              <a:srgbClr val="E8C2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836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문제 — 서로를 같은 컴퓨터로 착각한다</a:t>
            </a:r>
            <a:endParaRPr lang="en-US" sz="1500" dirty="0"/>
          </a:p>
        </p:txBody>
      </p:sp>
      <p:sp>
        <p:nvSpPr>
          <p:cNvPr id="6" name="mac-0"/>
          <p:cNvSpPr/>
          <p:nvPr/>
        </p:nvSpPr>
        <p:spPr>
          <a:xfrm>
            <a:off x="841248" y="2359152"/>
            <a:ext cx="489204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5875">
            <a:solidFill>
              <a:srgbClr val="E0CF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7802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Windows Wi-Fi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24780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F0:68:E3:6D:C6:30</a:t>
            </a:r>
            <a:endParaRPr lang="en-US" sz="1150" dirty="0"/>
          </a:p>
        </p:txBody>
      </p:sp>
      <p:sp>
        <p:nvSpPr>
          <p:cNvPr id="9" name="mac-1"/>
          <p:cNvSpPr/>
          <p:nvPr/>
        </p:nvSpPr>
        <p:spPr>
          <a:xfrm>
            <a:off x="841248" y="2999232"/>
            <a:ext cx="489204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5875">
            <a:solidFill>
              <a:srgbClr val="E0CF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11810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WSL eth1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311810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f0:68:e3:6d:c6:30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accent5"/>
                </a:solidFill>
              </a:rPr>
              <a:t>MAC이 완전히 같다. Fast DDS는 이 값으로 상대가 같은 컴퓨터인지 판단한다.</a:t>
            </a:r>
            <a:endParaRPr lang="en-US" sz="1250" dirty="0"/>
          </a:p>
        </p:txBody>
      </p:sp>
      <p:sp>
        <p:nvSpPr>
          <p:cNvPr id="13" name="prob-flow"/>
          <p:cNvSpPr/>
          <p:nvPr/>
        </p:nvSpPr>
        <p:spPr>
          <a:xfrm>
            <a:off x="841248" y="4224528"/>
            <a:ext cx="48920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5875">
            <a:solidFill>
              <a:srgbClr val="E0CF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5254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같은 컴퓨터라고 판단</a:t>
            </a:r>
            <a:endParaRPr lang="en-US" sz="1250" dirty="0"/>
          </a:p>
        </p:txBody>
      </p:sp>
      <p:sp>
        <p:nvSpPr>
          <p:cNvPr id="15" name="prob-arr1"/>
          <p:cNvSpPr/>
          <p:nvPr/>
        </p:nvSpPr>
        <p:spPr>
          <a:xfrm>
            <a:off x="3287268" y="4645152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05840" y="484632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UDP 대신 공유메모리로 보낸다</a:t>
            </a:r>
            <a:endParaRPr lang="en-US" sz="1250" dirty="0"/>
          </a:p>
        </p:txBody>
      </p:sp>
      <p:sp>
        <p:nvSpPr>
          <p:cNvPr id="17" name="prob-arr2"/>
          <p:cNvSpPr/>
          <p:nvPr/>
        </p:nvSpPr>
        <p:spPr>
          <a:xfrm>
            <a:off x="3287268" y="5138928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005840" y="534009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accent5"/>
                </a:solidFill>
              </a:rPr>
              <a:t>Windows와 WSL의 공유메모리는 별개 → 데이터 소실</a:t>
            </a:r>
            <a:endParaRPr lang="en-US" sz="1250" dirty="0"/>
          </a:p>
        </p:txBody>
      </p:sp>
      <p:sp>
        <p:nvSpPr>
          <p:cNvPr id="19" name="sol-card"/>
          <p:cNvSpPr/>
          <p:nvPr/>
        </p:nvSpPr>
        <p:spPr>
          <a:xfrm>
            <a:off x="6281928" y="1664208"/>
            <a:ext cx="5312664" cy="4160520"/>
          </a:xfrm>
          <a:prstGeom prst="roundRect">
            <a:avLst>
              <a:gd name="adj" fmla="val 2198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6248" y="1883664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해결 — 공유메모리를 아예 광고하지 않는다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2304288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설정 파일이 MATLAB의 통신 수단에서 공유메모리를 빼 버린다. 상대가 고를 수 있는 길이 UDP뿐이면 잘못 고를 수가 없다.</a:t>
            </a:r>
            <a:endParaRPr lang="en-US" sz="1300" dirty="0"/>
          </a:p>
        </p:txBody>
      </p:sp>
      <p:sp>
        <p:nvSpPr>
          <p:cNvPr id="22" name="sol-false"/>
          <p:cNvSpPr/>
          <p:nvPr/>
        </p:nvSpPr>
        <p:spPr>
          <a:xfrm>
            <a:off x="6556248" y="3154680"/>
            <a:ext cx="4764024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2700">
            <a:solidFill>
              <a:srgbClr val="D2DE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39128" y="3282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8E92"/>
                </a:solidFill>
              </a:rPr>
              <a:t>공유메모리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3282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8E92"/>
                </a:solidFill>
              </a:rPr>
              <a:t>목록에서 제거</a:t>
            </a:r>
            <a:endParaRPr lang="en-US" sz="1200" dirty="0"/>
          </a:p>
        </p:txBody>
      </p:sp>
      <p:sp>
        <p:nvSpPr>
          <p:cNvPr id="25" name="sol-true"/>
          <p:cNvSpPr/>
          <p:nvPr/>
        </p:nvSpPr>
        <p:spPr>
          <a:xfrm>
            <a:off x="6556248" y="3840480"/>
            <a:ext cx="4764024" cy="566928"/>
          </a:xfrm>
          <a:prstGeom prst="roundRect">
            <a:avLst>
              <a:gd name="adj" fmla="val 1129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39128" y="3968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UDP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사용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56248" y="461772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또 하나, 멀티캐스트 탐색 포트도 WSL이 먼저 차지해 MATLAB이 못 쓴다. 같은 설정 파일이 127.0.0.1의 유니캐스트 포트로 직접 연결하게 해서 이것도 함께 푼다.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"/>
          <p:cNvSpPr/>
          <p:nvPr/>
        </p:nvSpPr>
        <p:spPr>
          <a:xfrm>
            <a:off x="566928" y="420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298448" y="384048"/>
            <a:ext cx="10296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MATLAB에 설정 적용하기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프로젝트 폴더를 현재 폴더로 두고 MATLAB을 시작하면 startup.m이 알아서 적용한다.</a:t>
            </a:r>
            <a:endParaRPr lang="en-US" sz="1400" dirty="0"/>
          </a:p>
        </p:txBody>
      </p:sp>
      <p:sp>
        <p:nvSpPr>
          <p:cNvPr id="6" name="code-s6"/>
          <p:cNvSpPr/>
          <p:nvPr/>
        </p:nvSpPr>
        <p:spPr>
          <a:xfrm>
            <a:off x="566928" y="1664208"/>
            <a:ext cx="6583680" cy="1371600"/>
          </a:xfrm>
          <a:prstGeom prst="roundRect">
            <a:avLst>
              <a:gd name="adj" fmla="val 4000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55648"/>
            <a:ext cx="6254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ros2_matlab_setup(30)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DDS 프로파일 생성: ...\fastdds_matlab_wsl.xml  (도메인 30)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 2 설정 완료  |  도메인 30  |  프로파일 ...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27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폴더를 옮겨 왔거나 자동 실행이 안 됐을 때만 위 명령을 직접 친다.</a:t>
            </a:r>
            <a:endParaRPr lang="en-US" sz="1250" dirty="0"/>
          </a:p>
        </p:txBody>
      </p:sp>
      <p:sp>
        <p:nvSpPr>
          <p:cNvPr id="9" name="rule-card"/>
          <p:cNvSpPr/>
          <p:nvPr/>
        </p:nvSpPr>
        <p:spPr>
          <a:xfrm>
            <a:off x="566928" y="356616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22225">
            <a:solidFill>
              <a:schemeClr val="accent4"/>
            </a:solidFill>
            <a:prstDash val="solid"/>
          </a:ln>
        </p:spPr>
      </p:sp>
      <p:sp>
        <p:nvSpPr>
          <p:cNvPr id="10" name="rule-dot"/>
          <p:cNvSpPr/>
          <p:nvPr/>
        </p:nvSpPr>
        <p:spPr>
          <a:xfrm>
            <a:off x="841248" y="3803904"/>
            <a:ext cx="502920" cy="50292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8587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5A10"/>
                </a:solidFill>
              </a:rPr>
              <a:t>반드시 지킬 것 하나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427939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ros2_matlab_setup은 ROS 2를 쓰기 전에 불러야 한다. MATLAB은 ros2node를 처음 만들 때 백엔드를 띄우는데, 그 순간의 환경변수가 그대로 굳는다.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51206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A5A10"/>
                </a:solidFill>
              </a:rPr>
              <a:t>이미 ROS 2를 쓴 세션이라면 clear all로는 되돌릴 수 없다. MATLAB을 완전히 종료했다가 다시 켜야 한다.</a:t>
            </a:r>
            <a:endParaRPr lang="en-US" sz="1300" dirty="0"/>
          </a:p>
        </p:txBody>
      </p:sp>
      <p:sp>
        <p:nvSpPr>
          <p:cNvPr id="15" name="s6-timing"/>
          <p:cNvSpPr/>
          <p:nvPr/>
        </p:nvSpPr>
        <p:spPr>
          <a:xfrm>
            <a:off x="7470648" y="1664208"/>
            <a:ext cx="4123944" cy="4187952"/>
          </a:xfrm>
          <a:prstGeom prst="roundRect">
            <a:avLst>
              <a:gd name="adj" fmla="val 2217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44968" y="188366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순서가 전부다</a:t>
            </a:r>
            <a:endParaRPr lang="en-US" sz="1500" dirty="0"/>
          </a:p>
        </p:txBody>
      </p:sp>
      <p:sp>
        <p:nvSpPr>
          <p:cNvPr id="17" name="seq-0"/>
          <p:cNvSpPr/>
          <p:nvPr/>
        </p:nvSpPr>
        <p:spPr>
          <a:xfrm>
            <a:off x="7744968" y="2359152"/>
            <a:ext cx="3575304" cy="59436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12700">
            <a:solidFill>
              <a:srgbClr val="D2DE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2496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MATLAB 시작</a:t>
            </a:r>
            <a:endParaRPr lang="en-US" sz="1250" dirty="0"/>
          </a:p>
        </p:txBody>
      </p:sp>
      <p:sp>
        <p:nvSpPr>
          <p:cNvPr id="19" name="seq-arr-0"/>
          <p:cNvSpPr/>
          <p:nvPr/>
        </p:nvSpPr>
        <p:spPr>
          <a:xfrm>
            <a:off x="9532620" y="2990088"/>
            <a:ext cx="0" cy="201168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20" name="seq-1"/>
          <p:cNvSpPr/>
          <p:nvPr/>
        </p:nvSpPr>
        <p:spPr>
          <a:xfrm>
            <a:off x="7744968" y="3227832"/>
            <a:ext cx="3575304" cy="59436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3364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chemeClr val="accent1"/>
                </a:solidFill>
              </a:rPr>
              <a:t>ros2_matlab_setup</a:t>
            </a:r>
            <a:endParaRPr lang="en-US" sz="1250" dirty="0"/>
          </a:p>
        </p:txBody>
      </p:sp>
      <p:sp>
        <p:nvSpPr>
          <p:cNvPr id="22" name="seq-arr-1"/>
          <p:cNvSpPr/>
          <p:nvPr/>
        </p:nvSpPr>
        <p:spPr>
          <a:xfrm>
            <a:off x="9532620" y="3858768"/>
            <a:ext cx="0" cy="201168"/>
          </a:xfrm>
          <a:prstGeom prst="line">
            <a:avLst/>
          </a:prstGeom>
          <a:noFill/>
          <a:ln w="19050">
            <a:solidFill>
              <a:srgbClr val="A9C4C9"/>
            </a:solidFill>
            <a:prstDash val="solid"/>
            <a:tailEnd type="triangle"/>
          </a:ln>
        </p:spPr>
      </p:sp>
      <p:sp>
        <p:nvSpPr>
          <p:cNvPr id="23" name="seq-2"/>
          <p:cNvSpPr/>
          <p:nvPr/>
        </p:nvSpPr>
        <p:spPr>
          <a:xfrm>
            <a:off x="7744968" y="4096512"/>
            <a:ext cx="3575304" cy="59436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12700">
            <a:solidFill>
              <a:srgbClr val="D2DE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4233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ros2node / 구독 / 발행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5029200"/>
            <a:ext cx="3575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이 순서가 뒤바뀌면 설정이 적용되지 않는다.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연결 확인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WSL에서 Gazebo를 띄운 뒤, MATLAB에서 tb3_check_connection을 실행한다.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WSL 터미널</a:t>
            </a:r>
            <a:endParaRPr lang="en-US" sz="1300" dirty="0"/>
          </a:p>
        </p:txBody>
      </p:sp>
      <p:sp>
        <p:nvSpPr>
          <p:cNvPr id="5" name="code-v1"/>
          <p:cNvSpPr/>
          <p:nvPr/>
        </p:nvSpPr>
        <p:spPr>
          <a:xfrm>
            <a:off x="566928" y="1993392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84832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ROS_DOMAIN_ID=30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turtlebot3_gazebo \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turtlebot3_world.launch.py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MATLAB 명령 창</a:t>
            </a:r>
            <a:endParaRPr lang="en-US" sz="1300" dirty="0"/>
          </a:p>
        </p:txBody>
      </p:sp>
      <p:sp>
        <p:nvSpPr>
          <p:cNvPr id="8" name="code-v2"/>
          <p:cNvSpPr/>
          <p:nvPr/>
        </p:nvSpPr>
        <p:spPr>
          <a:xfrm>
            <a:off x="566928" y="352044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61188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tb3_check_connection</a:t>
            </a:r>
            <a:endParaRPr lang="en-US" sz="1050" dirty="0"/>
          </a:p>
        </p:txBody>
      </p:sp>
      <p:sp>
        <p:nvSpPr>
          <p:cNvPr id="10" name="v-note"/>
          <p:cNvSpPr/>
          <p:nvPr/>
        </p:nvSpPr>
        <p:spPr>
          <a:xfrm>
            <a:off x="566928" y="4206240"/>
            <a:ext cx="502920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4074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Gazebo는 평소대로 띄우면 된다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7914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설정이 필요한 쪽은 MATLAB뿐이다. WSL에는 아무것도 추가로 걸지 않는다.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1627632"/>
            <a:ext cx="563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이렇게 나오면 성공</a:t>
            </a:r>
            <a:endParaRPr lang="en-US" sz="1300" dirty="0"/>
          </a:p>
        </p:txBody>
      </p:sp>
      <p:sp>
        <p:nvSpPr>
          <p:cNvPr id="14" name="code-v3"/>
          <p:cNvSpPr/>
          <p:nvPr/>
        </p:nvSpPr>
        <p:spPr>
          <a:xfrm>
            <a:off x="5961888" y="1993392"/>
            <a:ext cx="5632704" cy="2743200"/>
          </a:xfrm>
          <a:prstGeom prst="roundRect">
            <a:avLst>
              <a:gd name="adj" fmla="val 2000"/>
            </a:avLst>
          </a:prstGeom>
          <a:solidFill>
            <a:srgbClr val="11333C"/>
          </a:solidFill>
          <a:ln w="12700">
            <a:solidFill>
              <a:srgbClr val="1133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2084832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연결 확인 (도메인 30) ---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[OK]   WSL -&gt; MATLAB  /scan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거리값 360개, frame=base_scan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[OK]   WSL -&gt; MATLAB  /odom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x=-2.23 m, y=-0.16 m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[OK]   MATLAB -&gt; WSL  /cmd_vel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FA9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발행 성공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7FE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통신 정상입니다. tb3_basics 로 넘어가세요.</a:t>
            </a:r>
            <a:endParaRPr lang="en-US" sz="1100" dirty="0"/>
          </a:p>
        </p:txBody>
      </p:sp>
      <p:sp>
        <p:nvSpPr>
          <p:cNvPr id="16" name="v-tip"/>
          <p:cNvSpPr/>
          <p:nvPr/>
        </p:nvSpPr>
        <p:spPr>
          <a:xfrm>
            <a:off x="5961888" y="4937760"/>
            <a:ext cx="5632704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513892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</a:rPr>
              <a:t>ros2 topic list 가 비어 있어도 정상이다.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배포판이 달라 목록 조회만 안 되는 것이고, 메시지는 정상적으로 오간다.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세팅이 끝난 뒤, 매일 쓰는 순서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한 번 세팅하면 그다음부터는 이 세 가지만 하면 된다.</a:t>
            </a:r>
            <a:endParaRPr lang="en-US" sz="1400" dirty="0"/>
          </a:p>
        </p:txBody>
      </p:sp>
      <p:sp>
        <p:nvSpPr>
          <p:cNvPr id="4" name="daily-0"/>
          <p:cNvSpPr/>
          <p:nvPr/>
        </p:nvSpPr>
        <p:spPr>
          <a:xfrm>
            <a:off x="566928" y="1783080"/>
            <a:ext cx="349300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5" name="daily-badge-0"/>
          <p:cNvSpPr/>
          <p:nvPr/>
        </p:nvSpPr>
        <p:spPr>
          <a:xfrm>
            <a:off x="859536" y="20299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779776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WSL에서 Gazebo 실행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478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turtlebot3_gazebo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turtlebot3_world.launch.py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426110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평소대로. 추가 설정 없음</a:t>
            </a:r>
            <a:endParaRPr lang="en-US" sz="1200" dirty="0"/>
          </a:p>
        </p:txBody>
      </p:sp>
      <p:sp>
        <p:nvSpPr>
          <p:cNvPr id="10" name="daily-1"/>
          <p:cNvSpPr/>
          <p:nvPr/>
        </p:nvSpPr>
        <p:spPr>
          <a:xfrm>
            <a:off x="4334256" y="1783080"/>
            <a:ext cx="349300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1" name="daily-badge-1"/>
          <p:cNvSpPr/>
          <p:nvPr/>
        </p:nvSpPr>
        <p:spPr>
          <a:xfrm>
            <a:off x="4626864" y="20299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779776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프로젝트 폴더에서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MATLAB 시작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35478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startup.m 자동 실행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426110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설정이 자동으로 걸린다</a:t>
            </a:r>
            <a:endParaRPr lang="en-US" sz="1200" dirty="0"/>
          </a:p>
        </p:txBody>
      </p:sp>
      <p:sp>
        <p:nvSpPr>
          <p:cNvPr id="16" name="daily-2"/>
          <p:cNvSpPr/>
          <p:nvPr/>
        </p:nvSpPr>
        <p:spPr>
          <a:xfrm>
            <a:off x="8101584" y="1783080"/>
            <a:ext cx="3493008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17" name="daily-badge-2"/>
          <p:cNvSpPr/>
          <p:nvPr/>
        </p:nvSpPr>
        <p:spPr>
          <a:xfrm>
            <a:off x="8394192" y="20299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779776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연결 확인 후 작업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5478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tb3_check_connection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426110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OK 세 줄을 보고 시작</a:t>
            </a:r>
            <a:endParaRPr lang="en-US" sz="1200" dirty="0"/>
          </a:p>
        </p:txBody>
      </p:sp>
      <p:sp>
        <p:nvSpPr>
          <p:cNvPr id="22" name="daily-note"/>
          <p:cNvSpPr/>
          <p:nvPr/>
        </p:nvSpPr>
        <p:spPr>
          <a:xfrm>
            <a:off x="566928" y="4892040"/>
            <a:ext cx="11027664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rgbClr val="DC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138928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MATLAB을 이미 켜 둔 채로 설정을 바꿨다면 반드시 재시작한다.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ROS 2 백엔드가 시작 시점의 환경변수를 붙들고 있기 때문이다.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안 될 때 — 위에서부터 차례로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27664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  <a:gridCol w="3255264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토픽이 하나도 안 보인다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MATLAB이 ROS 2를 쓰기 전에 ros2_matlab_setup을 실행했는가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MATLAB을 완전히 종료 후 재시작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재시작해도 안 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.wslconfig의 두 줄이 들어 있고, 저장 후 WSL을 껐다 켰는가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 --shutdown 후 다시 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ros2 topic list가 비어 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이것은 정상이다. 배포판 차이로 목록 조회만 안 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tb3_check_connection으로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libmwros2server가 죽는다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구독자를 중간에 clear 하거나 버려지게 두지 않았는가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구독자를 끝까지 변수로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Gazebo 창이 안 뜬다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WSL이 최신인가 (WSLg가 화면을 담당한다)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 --update 후 재시작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도메인을 바꾸고 싶다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양쪽 ROS_DOMAIN_ID가 같아야 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양쪽을 같은 번호로 변경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알아두고 시작할 제약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MATLAB은 Jazzy, WSL은 Humble이다. ROS 2는 배포판이 다르면 호환을 보장하지 않는다.</a:t>
            </a:r>
            <a:endParaRPr lang="en-US" sz="1400" dirty="0"/>
          </a:p>
        </p:txBody>
      </p:sp>
      <p:sp>
        <p:nvSpPr>
          <p:cNvPr id="4" name="dist-l"/>
          <p:cNvSpPr/>
          <p:nvPr/>
        </p:nvSpPr>
        <p:spPr>
          <a:xfrm>
            <a:off x="566928" y="1691640"/>
            <a:ext cx="51206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0195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MATLAB R2025b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ROS 2 Jazzy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9748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Fast DDS 2.14.5</a:t>
            </a:r>
            <a:endParaRPr lang="en-US" sz="1200" dirty="0"/>
          </a:p>
        </p:txBody>
      </p:sp>
      <p:sp>
        <p:nvSpPr>
          <p:cNvPr id="8" name="dist-r"/>
          <p:cNvSpPr/>
          <p:nvPr/>
        </p:nvSpPr>
        <p:spPr>
          <a:xfrm>
            <a:off x="6473952" y="1691640"/>
            <a:ext cx="51206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5875">
            <a:solidFill>
              <a:srgbClr val="B9D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48272" y="190195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WSL Ubuntu 22.04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ROS 2 Humble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69748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Fast DDS 2.6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205740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1F"/>
                </a:solidFill>
              </a:rPr>
              <a:t>≠</a:t>
            </a:r>
            <a:endParaRPr lang="en-US" sz="2600" dirty="0"/>
          </a:p>
        </p:txBody>
      </p:sp>
      <p:sp>
        <p:nvSpPr>
          <p:cNvPr id="13" name="limit-0"/>
          <p:cNvSpPr/>
          <p:nvPr/>
        </p:nvSpPr>
        <p:spPr>
          <a:xfrm>
            <a:off x="566928" y="3337560"/>
            <a:ext cx="11027664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limit-dot-0"/>
          <p:cNvSpPr/>
          <p:nvPr/>
        </p:nvSpPr>
        <p:spPr>
          <a:xfrm>
            <a:off x="841248" y="355701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98448" y="3538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chemeClr val="accent1"/>
                </a:solidFill>
              </a:rPr>
              <a:t>되는 것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538728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토픽 발행과 구독. /scan · /odom · /cmd_vel 모두 검증했다</a:t>
            </a:r>
            <a:endParaRPr lang="en-US" sz="1300" dirty="0"/>
          </a:p>
        </p:txBody>
      </p:sp>
      <p:sp>
        <p:nvSpPr>
          <p:cNvPr id="17" name="limit-1"/>
          <p:cNvSpPr/>
          <p:nvPr/>
        </p:nvSpPr>
        <p:spPr>
          <a:xfrm>
            <a:off x="566928" y="4206240"/>
            <a:ext cx="1102766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8" name="limit-dot-1"/>
          <p:cNvSpPr/>
          <p:nvPr/>
        </p:nvSpPr>
        <p:spPr>
          <a:xfrm>
            <a:off x="841248" y="4425696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98448" y="4407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chemeClr val="accent5"/>
                </a:solidFill>
              </a:rPr>
              <a:t>안 되는 것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4407408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ros2 topic list · ros2 node list 같은 목록 조회</a:t>
            </a:r>
            <a:endParaRPr lang="en-US" sz="1300" dirty="0"/>
          </a:p>
        </p:txBody>
      </p:sp>
      <p:sp>
        <p:nvSpPr>
          <p:cNvPr id="21" name="limit-2"/>
          <p:cNvSpPr/>
          <p:nvPr/>
        </p:nvSpPr>
        <p:spPr>
          <a:xfrm>
            <a:off x="566928" y="5074920"/>
            <a:ext cx="1102766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2" name="limit-dot-2"/>
          <p:cNvSpPr/>
          <p:nvPr/>
        </p:nvSpPr>
        <p:spPr>
          <a:xfrm>
            <a:off x="841248" y="5294376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98448" y="5276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chemeClr val="accent4"/>
                </a:solidFill>
              </a:rPr>
              <a:t>확인 안 한 것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127248" y="5276088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서비스와 액션. 필요하면 별도로 시험해야 한다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5216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배포판을 맞추고 싶다면 Ubuntu 24.04에 ROS 2 Jazzy를 올리는 것이 근본적인 해결이다.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640080"/>
            <a:ext cx="11027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세팅 완료 체크리스트</a:t>
            </a:r>
            <a:endParaRPr lang="en-US" sz="3200" dirty="0"/>
          </a:p>
        </p:txBody>
      </p:sp>
      <p:sp>
        <p:nvSpPr>
          <p:cNvPr id="3" name="chk-0"/>
          <p:cNvSpPr/>
          <p:nvPr/>
        </p:nvSpPr>
        <p:spPr>
          <a:xfrm>
            <a:off x="566928" y="2103120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4" name="chk-dot-0"/>
          <p:cNvSpPr/>
          <p:nvPr/>
        </p:nvSpPr>
        <p:spPr>
          <a:xfrm>
            <a:off x="804672" y="2267712"/>
            <a:ext cx="301752" cy="3017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67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31136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3EFF1"/>
                </a:solidFill>
              </a:rPr>
              <a:t>wsl --version 이 2.0 이상이고 배포판이 Ubuntu-22.04다</a:t>
            </a:r>
            <a:endParaRPr lang="en-US" sz="1350" dirty="0"/>
          </a:p>
        </p:txBody>
      </p:sp>
      <p:sp>
        <p:nvSpPr>
          <p:cNvPr id="7" name="chk-1"/>
          <p:cNvSpPr/>
          <p:nvPr/>
        </p:nvSpPr>
        <p:spPr>
          <a:xfrm>
            <a:off x="566928" y="2852928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8" name="chk-dot-1"/>
          <p:cNvSpPr/>
          <p:nvPr/>
        </p:nvSpPr>
        <p:spPr>
          <a:xfrm>
            <a:off x="804672" y="3017520"/>
            <a:ext cx="301752" cy="3017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80944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3EFF1"/>
                </a:solidFill>
              </a:rPr>
              <a:t>.wslconfig에 mirrored와 hostAddressLoopback 두 줄이 있고, wsl --shutdown으로 반영했다</a:t>
            </a:r>
            <a:endParaRPr lang="en-US" sz="1350" dirty="0"/>
          </a:p>
        </p:txBody>
      </p:sp>
      <p:sp>
        <p:nvSpPr>
          <p:cNvPr id="11" name="chk-2"/>
          <p:cNvSpPr/>
          <p:nvPr/>
        </p:nvSpPr>
        <p:spPr>
          <a:xfrm>
            <a:off x="566928" y="3602736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12" name="chk-dot-2"/>
          <p:cNvSpPr/>
          <p:nvPr/>
        </p:nvSpPr>
        <p:spPr>
          <a:xfrm>
            <a:off x="804672" y="3767328"/>
            <a:ext cx="301752" cy="3017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7673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30752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3EFF1"/>
                </a:solidFill>
              </a:rPr>
              <a:t>WSL에서 ros2 launch turtlebot3_gazebo로 Gazebo 창이 뜬다</a:t>
            </a:r>
            <a:endParaRPr lang="en-US" sz="1350" dirty="0"/>
          </a:p>
        </p:txBody>
      </p:sp>
      <p:sp>
        <p:nvSpPr>
          <p:cNvPr id="15" name="chk-3"/>
          <p:cNvSpPr/>
          <p:nvPr/>
        </p:nvSpPr>
        <p:spPr>
          <a:xfrm>
            <a:off x="566928" y="4352544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16" name="chk-dot-3"/>
          <p:cNvSpPr/>
          <p:nvPr/>
        </p:nvSpPr>
        <p:spPr>
          <a:xfrm>
            <a:off x="804672" y="4517136"/>
            <a:ext cx="301752" cy="3017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51713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8056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3EFF1"/>
                </a:solidFill>
              </a:rPr>
              <a:t>MATLAB에 ROS Toolbox가 있고, 프로젝트 폴더에서 시작한다</a:t>
            </a:r>
            <a:endParaRPr lang="en-US" sz="1350" dirty="0"/>
          </a:p>
        </p:txBody>
      </p:sp>
      <p:sp>
        <p:nvSpPr>
          <p:cNvPr id="19" name="chk-4"/>
          <p:cNvSpPr/>
          <p:nvPr/>
        </p:nvSpPr>
        <p:spPr>
          <a:xfrm>
            <a:off x="566928" y="5102352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0E5566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20" name="chk-dot-4"/>
          <p:cNvSpPr/>
          <p:nvPr/>
        </p:nvSpPr>
        <p:spPr>
          <a:xfrm>
            <a:off x="804672" y="5266944"/>
            <a:ext cx="301752" cy="3017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26694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30368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3EFF1"/>
                </a:solidFill>
              </a:rPr>
              <a:t>tb3_check_connection의 세 줄이 모두 [OK]다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21488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BF"/>
                </a:solidFill>
              </a:rPr>
              <a:t>더 자세한 배경은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matlab-wsl-ros2-solution.pdf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README-matlab-wsl.md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B3 Setup">
  <a:themeElements>
    <a:clrScheme name="TB3 Setup">
      <a:dk1>
        <a:srgbClr val="16242A"/>
      </a:dk1>
      <a:lt1>
        <a:srgbClr val="FFFFFF"/>
      </a:lt1>
      <a:dk2>
        <a:srgbClr val="073B4C"/>
      </a:dk2>
      <a:lt2>
        <a:srgbClr val="EDF4F5"/>
      </a:lt2>
      <a:accent1>
        <a:srgbClr val="028090"/>
      </a:accent1>
      <a:accent2>
        <a:srgbClr val="00A896"/>
      </a:accent2>
      <a:accent3>
        <a:srgbClr val="02C39A"/>
      </a:accent3>
      <a:accent4>
        <a:srgbClr val="D98C1F"/>
      </a:accent4>
      <a:accent5>
        <a:srgbClr val="C1462F"/>
      </a:accent5>
      <a:accent6>
        <a:srgbClr val="5A6B72"/>
      </a:accent6>
      <a:hlink>
        <a:srgbClr val="028090"/>
      </a:hlink>
      <a:folHlink>
        <a:srgbClr val="5A6B72"/>
      </a:folHlink>
    </a:clrScheme>
    <a:fontScheme name="TB3 Setup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x WSL ROS 2 새 PC 세팅 가이드</dc:title>
  <dc:subject>PptxGenJS Presentation</dc:subject>
  <dc:creator>Autonomous PCC</dc:creator>
  <cp:lastModifiedBy>Autonomous PCC</cp:lastModifiedBy>
  <cp:revision>1</cp:revision>
  <dcterms:created xsi:type="dcterms:W3CDTF">2026-10-29T04:34:14Z</dcterms:created>
  <dcterms:modified xsi:type="dcterms:W3CDTF">2026-10-29T04:34:14Z</dcterms:modified>
</cp:coreProperties>
</file>